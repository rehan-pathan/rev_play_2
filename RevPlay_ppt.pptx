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slide" Target="slides/slide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aac4e606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aac4e606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caac4e606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64008"/>
            <a:ext cx="3474720" cy="5015484"/>
          </a:xfrm>
          <a:prstGeom prst="rect">
            <a:avLst/>
          </a:prstGeom>
          <a:solidFill>
            <a:srgbClr val="141414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456432" y="64008"/>
            <a:ext cx="36576" cy="5015484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82880" y="1097280"/>
            <a:ext cx="3108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2020"/>
              </a:buClr>
              <a:buSzPts val="9000"/>
              <a:buFont typeface="Quattrocento Sans"/>
              <a:buNone/>
            </a:pPr>
            <a:r>
              <a:rPr b="0" i="0" lang="en-US" sz="9000" u="none" cap="none" strike="noStrike">
                <a:solidFill>
                  <a:srgbClr val="E020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♫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749040" y="100584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RevPlay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749040" y="2029968"/>
            <a:ext cx="1828800" cy="50292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749040" y="2148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Music Streaming Application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749040" y="2788920"/>
            <a:ext cx="1170432" cy="347472"/>
          </a:xfrm>
          <a:prstGeom prst="roundRect">
            <a:avLst>
              <a:gd fmla="val 15789" name="adj"/>
            </a:avLst>
          </a:prstGeom>
          <a:solidFill>
            <a:srgbClr val="E02020">
              <a:alpha val="74901"/>
            </a:srgbClr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749040" y="2788920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47488" y="2788920"/>
            <a:ext cx="1170432" cy="347472"/>
          </a:xfrm>
          <a:prstGeom prst="roundRect">
            <a:avLst>
              <a:gd fmla="val 15789" name="adj"/>
            </a:avLst>
          </a:prstGeom>
          <a:solidFill>
            <a:srgbClr val="E02020">
              <a:alpha val="74901"/>
            </a:srgbClr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047488" y="2788920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Angular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11259" y="2798058"/>
            <a:ext cx="1170300" cy="347400"/>
          </a:xfrm>
          <a:prstGeom prst="roundRect">
            <a:avLst>
              <a:gd fmla="val 15789" name="adj"/>
            </a:avLst>
          </a:prstGeom>
          <a:solidFill>
            <a:srgbClr val="E02020">
              <a:alpha val="74901"/>
            </a:srgbClr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411334" y="2798058"/>
            <a:ext cx="117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749808"/>
            <a:ext cx="8229600" cy="20117"/>
          </a:xfrm>
          <a:prstGeom prst="rect">
            <a:avLst/>
          </a:prstGeom>
          <a:solidFill>
            <a:srgbClr val="E02020">
              <a:alpha val="50196"/>
            </a:srgbClr>
          </a:solidFill>
          <a:ln cap="flat" cmpd="sng" w="12700">
            <a:solidFill>
              <a:srgbClr val="E0202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024128"/>
            <a:ext cx="457200" cy="310896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57200" y="102412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005840" y="960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Introduction &amp; Objective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1984248"/>
            <a:ext cx="457200" cy="310896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7200" y="198424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05840" y="1920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2944368"/>
            <a:ext cx="457200" cy="310896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294436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05840" y="2880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3904488"/>
            <a:ext cx="457200" cy="310896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7200" y="39044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05840" y="38404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Core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846320" y="1024128"/>
            <a:ext cx="457200" cy="310896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846320" y="102412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394960" y="960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Security — JWT 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846320" y="1984248"/>
            <a:ext cx="457200" cy="310896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46320" y="198424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94960" y="1920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Findings &amp; Observations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46320" y="2944368"/>
            <a:ext cx="457200" cy="310896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846320" y="294436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394960" y="2880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Challenges &amp; Learnings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46320" y="3904488"/>
            <a:ext cx="457200" cy="310896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846320" y="39044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394960" y="38404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Introduction &amp; Objective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749808"/>
            <a:ext cx="8229600" cy="20117"/>
          </a:xfrm>
          <a:prstGeom prst="rect">
            <a:avLst/>
          </a:prstGeom>
          <a:solidFill>
            <a:srgbClr val="E02020">
              <a:alpha val="50196"/>
            </a:srgbClr>
          </a:solidFill>
          <a:ln cap="flat" cmpd="sng" w="12700">
            <a:solidFill>
              <a:srgbClr val="E0202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RevPlay is a full-stack music streaming web application built using Spring Boot and Angular, featuring JWT authentication, role-based access, file uploads, and playlist management.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18288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Secure user authentication using JWT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Role-based access — USER and ARTIST roles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Upload, stream songs and manage playlists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RESTful API consumed by Angular SPA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760720" y="1463040"/>
            <a:ext cx="2743200" cy="82296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760720" y="150876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202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0202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583680" y="1600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760720" y="2468880"/>
            <a:ext cx="2743200" cy="82296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760720" y="251460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202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0202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583680" y="26060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Entities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760720" y="3474720"/>
            <a:ext cx="2743200" cy="82296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760720" y="352044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202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02020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583680" y="3611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749808"/>
            <a:ext cx="8229600" cy="20117"/>
          </a:xfrm>
          <a:prstGeom prst="rect">
            <a:avLst/>
          </a:prstGeom>
          <a:solidFill>
            <a:srgbClr val="E02020">
              <a:alpha val="50196"/>
            </a:srgbClr>
          </a:solidFill>
          <a:ln cap="flat" cmpd="sng" w="12700">
            <a:solidFill>
              <a:srgbClr val="E0202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20040" y="1005840"/>
            <a:ext cx="1965960" cy="137160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20040" y="1005840"/>
            <a:ext cx="1965960" cy="274320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320040" y="1005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Angular SPA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11480" y="13716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Components · Services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286000" y="1353312"/>
            <a:ext cx="210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496312" y="1005840"/>
            <a:ext cx="1965960" cy="137160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CC101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496312" y="1005840"/>
            <a:ext cx="1965960" cy="274320"/>
          </a:xfrm>
          <a:prstGeom prst="rect">
            <a:avLst/>
          </a:prstGeom>
          <a:solidFill>
            <a:srgbClr val="CC1010"/>
          </a:solidFill>
          <a:ln cap="flat" cmpd="sng" w="12700">
            <a:solidFill>
              <a:srgbClr val="CC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2496312" y="1005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HTTP Interceptor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2587752" y="13716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JWT Token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462272" y="1353312"/>
            <a:ext cx="210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672584" y="1005840"/>
            <a:ext cx="1965960" cy="137160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672584" y="1005840"/>
            <a:ext cx="1965960" cy="274320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672584" y="1005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Spring Boot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764024" y="13716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Controllers · JPA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638544" y="1353312"/>
            <a:ext cx="210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848856" y="1005840"/>
            <a:ext cx="1965960" cy="137160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AA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848856" y="1005840"/>
            <a:ext cx="1965960" cy="274320"/>
          </a:xfrm>
          <a:prstGeom prst="rect">
            <a:avLst/>
          </a:prstGeom>
          <a:solidFill>
            <a:srgbClr val="AA0000"/>
          </a:solidFill>
          <a:ln cap="flat" cmpd="sng" w="12700">
            <a:solidFill>
              <a:srgbClr val="A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848856" y="1005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MySQL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940296" y="13716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Users · Songs · Playlists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260604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User action in Angular triggers an HTTP 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HTTP Interceptor attaches the Bearer JWT token automatically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Spring Security validates the token before reaching the 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JPA/Hibernate executes queries against MySQL, response returned as JSON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749808"/>
            <a:ext cx="8229600" cy="20117"/>
          </a:xfrm>
          <a:prstGeom prst="rect">
            <a:avLst/>
          </a:prstGeom>
          <a:solidFill>
            <a:srgbClr val="E02020">
              <a:alpha val="50196"/>
            </a:srgbClr>
          </a:solidFill>
          <a:ln cap="flat" cmpd="sng" w="12700">
            <a:solidFill>
              <a:srgbClr val="E0202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320040" y="960120"/>
            <a:ext cx="2743200" cy="2926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20040" y="9601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29768" y="1325880"/>
            <a:ext cx="2523744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Spring Boot — REST controllers, Service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Spring Security — JWT filter chain, RBAC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JPA/Hibernate — ORM with MySQL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Multipart upload for audio &amp; images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CC101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3246120" y="960120"/>
            <a:ext cx="2743200" cy="292608"/>
          </a:xfrm>
          <a:prstGeom prst="rect">
            <a:avLst/>
          </a:prstGeom>
          <a:solidFill>
            <a:srgbClr val="CC1010"/>
          </a:solidFill>
          <a:ln cap="flat" cmpd="sng" w="12700">
            <a:solidFill>
              <a:srgbClr val="CC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246120" y="9601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355848" y="1325880"/>
            <a:ext cx="2523744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Angular standalone components + Router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HTTP Interceptor for JWT attachment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ChangeDetectorRef for reactive updates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Bootstrap for responsive layout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172200" y="960120"/>
            <a:ext cx="2743200" cy="393192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AA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172200" y="960120"/>
            <a:ext cx="2743200" cy="292608"/>
          </a:xfrm>
          <a:prstGeom prst="rect">
            <a:avLst/>
          </a:prstGeom>
          <a:solidFill>
            <a:srgbClr val="AA0000"/>
          </a:solidFill>
          <a:ln cap="flat" cmpd="sng" w="12700">
            <a:solidFill>
              <a:srgbClr val="A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172200" y="9601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281928" y="1325880"/>
            <a:ext cx="2523744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4 tables: User, Song, Playlist, PlaylistSong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Foreign keys for referential integrity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play_count column per song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JPA auto DDL for schema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Core Features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749808"/>
            <a:ext cx="8229600" cy="20117"/>
          </a:xfrm>
          <a:prstGeom prst="rect">
            <a:avLst/>
          </a:prstGeom>
          <a:solidFill>
            <a:srgbClr val="E02020">
              <a:alpha val="50196"/>
            </a:srgbClr>
          </a:solidFill>
          <a:ln cap="flat" cmpd="sng" w="12700">
            <a:solidFill>
              <a:srgbClr val="E0202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320040" y="960120"/>
            <a:ext cx="73152" cy="1783080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84632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🔐 Auth &amp; Roles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84632" y="141732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JWT login &amp; registration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USER and ARTIST 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Conditional UI per role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246120" y="960120"/>
            <a:ext cx="2743200" cy="178308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3246120" y="960120"/>
            <a:ext cx="73152" cy="1783080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3410712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🎵 Song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410712" y="141732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Upload audio + cover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Stream via HTML5 audio player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Play count tracked in 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172200" y="960120"/>
            <a:ext cx="2743200" cy="178308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172200" y="960120"/>
            <a:ext cx="73152" cy="1783080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336792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📋 Playlists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336792" y="141732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Create &amp; delete playlists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Add / remove songs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User-scoped ownership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20040" y="2926080"/>
            <a:ext cx="2743200" cy="178308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20040" y="2926080"/>
            <a:ext cx="73152" cy="1783080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84632" y="30175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🛡️ Secure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84632" y="338328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Spring Security filter chain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Role-secured endpoints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@PreAuthorize on methods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246120" y="2926080"/>
            <a:ext cx="2743200" cy="178308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246120" y="2926080"/>
            <a:ext cx="73152" cy="1783080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410712" y="30175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🎨 Angular 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410712" y="338328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Standalone components + Router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Services for API calls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Reactive ChangeDetectorRef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172200" y="2926080"/>
            <a:ext cx="2743200" cy="178308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6172200" y="2926080"/>
            <a:ext cx="73152" cy="1783080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336792" y="30175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🗄️ Data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336792" y="338328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MySQL relational schema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JPA/Hibernate 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FK-enforced relationships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Security — JWT Authentication Flow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7200" y="749808"/>
            <a:ext cx="8229600" cy="20117"/>
          </a:xfrm>
          <a:prstGeom prst="rect">
            <a:avLst/>
          </a:prstGeom>
          <a:solidFill>
            <a:srgbClr val="E02020">
              <a:alpha val="50196"/>
            </a:srgbClr>
          </a:solidFill>
          <a:ln cap="flat" cmpd="sng" w="12700">
            <a:solidFill>
              <a:srgbClr val="E0202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566928" y="1005840"/>
            <a:ext cx="594360" cy="594360"/>
          </a:xfrm>
          <a:prstGeom prst="ellipse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566928" y="10058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82880" y="16916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82880" y="20116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POST /auth/login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554480" y="10972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048256" y="1005840"/>
            <a:ext cx="594360" cy="594360"/>
          </a:xfrm>
          <a:prstGeom prst="ellipse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2048256" y="10058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664208" y="16916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Token Issued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664208" y="20116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Signed JWT returned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035808" y="10972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529584" y="1005840"/>
            <a:ext cx="594360" cy="594360"/>
          </a:xfrm>
          <a:prstGeom prst="ellipse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3529584" y="10058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145536" y="16916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Stored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145536" y="20116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Saved in localStorage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17136" y="10972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010912" y="1005840"/>
            <a:ext cx="594360" cy="594360"/>
          </a:xfrm>
          <a:prstGeom prst="ellipse">
            <a:avLst/>
          </a:prstGeom>
          <a:solidFill>
            <a:srgbClr val="880000"/>
          </a:solidFill>
          <a:ln cap="flat" cmpd="sng" w="12700">
            <a:solidFill>
              <a:srgbClr val="8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5010912" y="10058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626864" y="16916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Interceptor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626864" y="20116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Bearer token attached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998464" y="10972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92240" y="1005840"/>
            <a:ext cx="594360" cy="594360"/>
          </a:xfrm>
          <a:prstGeom prst="ellipse">
            <a:avLst/>
          </a:prstGeom>
          <a:solidFill>
            <a:srgbClr val="880000"/>
          </a:solidFill>
          <a:ln cap="flat" cmpd="sng" w="12700">
            <a:solidFill>
              <a:srgbClr val="8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492240" y="10058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108192" y="16916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Validated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108192" y="20116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Spring checks signature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479792" y="10972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7973568" y="1005840"/>
            <a:ext cx="594360" cy="594360"/>
          </a:xfrm>
          <a:prstGeom prst="ellipse">
            <a:avLst/>
          </a:prstGeom>
          <a:solidFill>
            <a:srgbClr val="880000"/>
          </a:solidFill>
          <a:ln cap="flat" cmpd="sng" w="12700">
            <a:solidFill>
              <a:srgbClr val="8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7973568" y="10058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7589520" y="16916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589520" y="20116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Controller responds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26517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JWT 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57200" y="301752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Header: Algorithm (HS256)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Payload: userId, role, expiry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Signature: HMAC-SHA256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572000" y="2651760"/>
            <a:ext cx="36576" cy="1828800"/>
          </a:xfrm>
          <a:prstGeom prst="rect">
            <a:avLst/>
          </a:prstGeom>
          <a:solidFill>
            <a:srgbClr val="E02020">
              <a:alpha val="45098"/>
            </a:srgbClr>
          </a:solidFill>
          <a:ln cap="flat" cmpd="sng" w="12700">
            <a:solidFill>
              <a:srgbClr val="E0202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754880" y="265176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Spring Security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Stateless — no server sessions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JwtAuthFilter before auth chain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Public: /auth/register, /auth/login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Findings &amp; Observations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749808"/>
            <a:ext cx="8229600" cy="20117"/>
          </a:xfrm>
          <a:prstGeom prst="rect">
            <a:avLst/>
          </a:prstGeom>
          <a:solidFill>
            <a:srgbClr val="E02020">
              <a:alpha val="50196"/>
            </a:srgbClr>
          </a:solidFill>
          <a:ln cap="flat" cmpd="sng" w="12700">
            <a:solidFill>
              <a:srgbClr val="E0202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365760" y="960120"/>
            <a:ext cx="4069080" cy="173736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365760" y="960120"/>
            <a:ext cx="82296" cy="1737360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548640" y="101498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20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2020"/>
                </a:solidFill>
                <a:latin typeface="Calibri"/>
                <a:ea typeface="Calibri"/>
                <a:cs typeface="Calibri"/>
                <a:sym typeface="Calibri"/>
              </a:rPr>
              <a:t>🔐 Authentication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48640" y="1362456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JWT correctly secures all protected routes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Role checks block unauthorized ARTIST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Token expiry triggers Angular logout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709160" y="960120"/>
            <a:ext cx="4069080" cy="173736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CC101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709160" y="960120"/>
            <a:ext cx="82296" cy="1737360"/>
          </a:xfrm>
          <a:prstGeom prst="rect">
            <a:avLst/>
          </a:prstGeom>
          <a:solidFill>
            <a:srgbClr val="CC1010"/>
          </a:solidFill>
          <a:ln cap="flat" cmpd="sng" w="12700">
            <a:solidFill>
              <a:srgbClr val="CC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892040" y="101498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0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C1010"/>
                </a:solidFill>
                <a:latin typeface="Calibri"/>
                <a:ea typeface="Calibri"/>
                <a:cs typeface="Calibri"/>
                <a:sym typeface="Calibri"/>
              </a:rPr>
              <a:t>🎵 Streaming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892040" y="1362456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HTML5 audio streams songs via Spring endpoints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Multipart upload handles audio + images reliably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Cover images render dynamically on song cards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65760" y="2926080"/>
            <a:ext cx="4069080" cy="173736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365760" y="2926080"/>
            <a:ext cx="82296" cy="1737360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548640" y="298094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📋 Playlists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48640" y="3328416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CRUD operations work with user-scoped ownership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Join table prevents duplicate song additions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Removals cascade without orphan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709160" y="2926080"/>
            <a:ext cx="4069080" cy="173736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AA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709160" y="2926080"/>
            <a:ext cx="82296" cy="1737360"/>
          </a:xfrm>
          <a:prstGeom prst="rect">
            <a:avLst/>
          </a:prstGeom>
          <a:solidFill>
            <a:srgbClr val="AA0000"/>
          </a:solidFill>
          <a:ln cap="flat" cmpd="sng" w="12700">
            <a:solidFill>
              <a:srgbClr val="A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892040" y="298094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A0000"/>
                </a:solidFill>
                <a:latin typeface="Calibri"/>
                <a:ea typeface="Calibri"/>
                <a:cs typeface="Calibri"/>
                <a:sym typeface="Calibri"/>
              </a:rPr>
              <a:t>📊 Play 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892040" y="3328416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play_count increments reliably on each stream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Enables analytics on most-played songs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Persisted in DB across sessions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Challenges Faced &amp; Key Learnings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57200" y="749808"/>
            <a:ext cx="8229600" cy="20117"/>
          </a:xfrm>
          <a:prstGeom prst="rect">
            <a:avLst/>
          </a:prstGeom>
          <a:solidFill>
            <a:srgbClr val="E02020">
              <a:alpha val="50196"/>
            </a:srgbClr>
          </a:solidFill>
          <a:ln cap="flat" cmpd="sng" w="12700">
            <a:solidFill>
              <a:srgbClr val="E0202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57200" y="9144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57200" y="132588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JWT wiring between Angular interceptor and Spring Security headers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CORS setup between Angular (4200) and Spring Boot (8080)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Multipart upload — file size limits and content-type handling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Conditional UI rendering based on decoded JWT role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572000" y="914400"/>
            <a:ext cx="36576" cy="3474720"/>
          </a:xfrm>
          <a:prstGeom prst="rect">
            <a:avLst/>
          </a:prstGeom>
          <a:solidFill>
            <a:srgbClr val="E02020">
              <a:alpha val="45098"/>
            </a:srgbClr>
          </a:solidFill>
          <a:ln cap="flat" cmpd="sng" w="12700">
            <a:solidFill>
              <a:srgbClr val="E0202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754880" y="9144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Key Learnings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754880" y="132588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Stateless JWT scales better than server-side sessions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HTTP Interceptor is the cleanest pattern for auth headers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Spring Security filter chain gives fine-grained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Service layer separation improves testability and clarity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Join tables are the right model for many-to-many relations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25" y="63388"/>
            <a:ext cx="8971750" cy="50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2020"/>
          </a:solidFill>
          <a:ln cap="flat" cmpd="sng" w="12700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457200" y="749808"/>
            <a:ext cx="8229600" cy="20117"/>
          </a:xfrm>
          <a:prstGeom prst="rect">
            <a:avLst/>
          </a:prstGeom>
          <a:solidFill>
            <a:srgbClr val="E02020">
              <a:alpha val="50196"/>
            </a:srgbClr>
          </a:solidFill>
          <a:ln cap="flat" cmpd="sng" w="12700">
            <a:solidFill>
              <a:srgbClr val="E0202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RevPlay demonstrates a production-ready full-stack application covering authentication, role-based access, file handling, streaming, and playlist management.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457200" y="17830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What was achieved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57200" y="2148840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JWT-secured RESTful API with Spring Boot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Role-based UI and endpoint protection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Full CRUD for songs and playlists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Angular SPA with HTTP Interceptor pattern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572000" y="1783080"/>
            <a:ext cx="36576" cy="2743200"/>
          </a:xfrm>
          <a:prstGeom prst="rect">
            <a:avLst/>
          </a:prstGeom>
          <a:solidFill>
            <a:srgbClr val="E02020">
              <a:alpha val="45098"/>
            </a:srgbClr>
          </a:solidFill>
          <a:ln cap="flat" cmpd="sng" w="12700">
            <a:solidFill>
              <a:srgbClr val="E0202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754880" y="17830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4754880" y="2148840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Real-time notifications via WebSockets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Cloud storage (AWS S3) for media files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Search and filter using Elasticsearch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Like, comment and follow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0" y="4434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202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0202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